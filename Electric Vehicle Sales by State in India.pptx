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3"/>
  </p:notesMasterIdLst>
  <p:handoutMasterIdLst>
    <p:handoutMasterId r:id="rId14"/>
  </p:handoutMasterIdLst>
  <p:sldIdLst>
    <p:sldId id="256" r:id="rId5"/>
    <p:sldId id="277" r:id="rId6"/>
    <p:sldId id="261" r:id="rId7"/>
    <p:sldId id="298" r:id="rId8"/>
    <p:sldId id="299" r:id="rId9"/>
    <p:sldId id="300" r:id="rId10"/>
    <p:sldId id="301" r:id="rId11"/>
    <p:sldId id="29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09" autoAdjust="0"/>
  </p:normalViewPr>
  <p:slideViewPr>
    <p:cSldViewPr snapToGrid="0">
      <p:cViewPr varScale="1">
        <p:scale>
          <a:sx n="106" d="100"/>
          <a:sy n="106" d="100"/>
        </p:scale>
        <p:origin x="708" y="9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11/1/2025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79414" y="4896566"/>
            <a:ext cx="4941771" cy="1122202"/>
          </a:xfrm>
        </p:spPr>
        <p:txBody>
          <a:bodyPr/>
          <a:lstStyle/>
          <a:p>
            <a:r>
              <a:rPr lang="en-US" dirty="0"/>
              <a:t>Electric Vehicle Sales by State in India</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8" y="0"/>
            <a:ext cx="3171825" cy="1325563"/>
          </a:xfrm>
        </p:spPr>
        <p:txBody>
          <a:bodyPr/>
          <a:lstStyle/>
          <a:p>
            <a:r>
              <a:rPr lang="en-US" dirty="0"/>
              <a:t>ABOUT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8" y="1428955"/>
            <a:ext cx="3754550" cy="5292520"/>
          </a:xfrm>
        </p:spPr>
        <p:txBody>
          <a:bodyPr>
            <a:normAutofit/>
          </a:bodyPr>
          <a:lstStyle/>
          <a:p>
            <a:r>
              <a:rPr lang="en-US" dirty="0"/>
              <a:t>This project centered on the acquisition preparation of a comprehensive dataset detailing electric vehicle (EV) adoption across India. The primary objective was to transform raw, web-scraped data from the Clean Mobility Shift portal into a pristine, analysis-ready resource. This involved a rigorous data cleaning process, including the removal of null values and structural inconsistencies, to ensure high data integrity and reliability.</a:t>
            </a:r>
          </a:p>
          <a:p>
            <a:r>
              <a:rPr lang="en-US" dirty="0"/>
              <a:t>The resulting dataset is a powerful foundation for data-driven exploration into India's evolving EV landscape. By providing a clean and reliable data source, this project directly supports strategic initiatives in market analysis, infrastructure planning, and policy development within the dynamic Indian EV sector.</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521329" y="240302"/>
            <a:ext cx="4082142" cy="585788"/>
          </a:xfrm>
        </p:spPr>
        <p:txBody>
          <a:bodyPr>
            <a:normAutofit fontScale="90000"/>
          </a:bodyPr>
          <a:lstStyle/>
          <a:p>
            <a:r>
              <a:rPr lang="en-US" b="1" dirty="0"/>
              <a:t>Dashboard Overview</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pic>
        <p:nvPicPr>
          <p:cNvPr id="4" name="Picture 3">
            <a:extLst>
              <a:ext uri="{FF2B5EF4-FFF2-40B4-BE49-F238E27FC236}">
                <a16:creationId xmlns:a16="http://schemas.microsoft.com/office/drawing/2014/main" id="{5FCBF467-332D-A90E-F337-A530B585D8D8}"/>
              </a:ext>
            </a:extLst>
          </p:cNvPr>
          <p:cNvPicPr>
            <a:picLocks noChangeAspect="1"/>
          </p:cNvPicPr>
          <p:nvPr/>
        </p:nvPicPr>
        <p:blipFill>
          <a:blip r:embed="rId2"/>
          <a:stretch>
            <a:fillRect/>
          </a:stretch>
        </p:blipFill>
        <p:spPr>
          <a:xfrm>
            <a:off x="207851" y="1377112"/>
            <a:ext cx="7315200" cy="4103776"/>
          </a:xfrm>
          <a:prstGeom prst="rect">
            <a:avLst/>
          </a:prstGeom>
        </p:spPr>
      </p:pic>
      <p:sp>
        <p:nvSpPr>
          <p:cNvPr id="11" name="Subtitle 2">
            <a:extLst>
              <a:ext uri="{FF2B5EF4-FFF2-40B4-BE49-F238E27FC236}">
                <a16:creationId xmlns:a16="http://schemas.microsoft.com/office/drawing/2014/main" id="{91D06EF0-C858-73DB-97F8-3882FF3E95FC}"/>
              </a:ext>
              <a:ext uri="{C183D7F6-B498-43B3-948B-1728B52AA6E4}">
                <adec:decorative xmlns:adec="http://schemas.microsoft.com/office/drawing/2017/decorative" val="0"/>
              </a:ext>
            </a:extLst>
          </p:cNvPr>
          <p:cNvSpPr txBox="1">
            <a:spLocks/>
          </p:cNvSpPr>
          <p:nvPr/>
        </p:nvSpPr>
        <p:spPr>
          <a:xfrm>
            <a:off x="7523051" y="1306685"/>
            <a:ext cx="4439595" cy="54147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This executive overview provides a high-level health check of India's EV market. The KPI cards deliver an immediate performance snapshot, highlighting the market's scale with 4M total sales and its positive momentum with a 1.36% YoY growth. These figures set the baseline for all further analysis.</a:t>
            </a:r>
          </a:p>
          <a:p>
            <a:r>
              <a:rPr lang="en-US" sz="1500" dirty="0"/>
              <a:t>The line chart tracking annual sales is critical for visualizing the market's long-term trajectory. It clearly illustrates the pivotal moments of acceleration, showing the transition from early adoption to mass-market growth over the past decade and confirming the overall positive trend.</a:t>
            </a:r>
          </a:p>
          <a:p>
            <a:r>
              <a:rPr lang="en-US" sz="1500" dirty="0"/>
              <a:t>The bar chart for sales by vehicle category offers an instant market share comparison. It visually establishes the dominance of key segments like 2-wheelers and 3-wheelers, immediately directing strategic focus towards the sectors driving the bulk of national volume.</a:t>
            </a:r>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7FCC8-3EDC-95B8-B1C2-8A4961909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D7B19-2DD4-AB4A-D2C0-B67B0A61D6A8}"/>
              </a:ext>
            </a:extLst>
          </p:cNvPr>
          <p:cNvSpPr>
            <a:spLocks noGrp="1"/>
          </p:cNvSpPr>
          <p:nvPr>
            <p:ph type="title"/>
          </p:nvPr>
        </p:nvSpPr>
        <p:spPr>
          <a:xfrm>
            <a:off x="521329" y="240302"/>
            <a:ext cx="4082142" cy="585788"/>
          </a:xfrm>
        </p:spPr>
        <p:txBody>
          <a:bodyPr>
            <a:normAutofit fontScale="90000"/>
          </a:bodyPr>
          <a:lstStyle/>
          <a:p>
            <a:r>
              <a:rPr lang="en-US" b="1" dirty="0"/>
              <a:t>State-Level Analysis</a:t>
            </a:r>
          </a:p>
        </p:txBody>
      </p:sp>
      <p:sp>
        <p:nvSpPr>
          <p:cNvPr id="13" name="Slide Number Placeholder 12">
            <a:extLst>
              <a:ext uri="{FF2B5EF4-FFF2-40B4-BE49-F238E27FC236}">
                <a16:creationId xmlns:a16="http://schemas.microsoft.com/office/drawing/2014/main" id="{237FB9F8-028F-01EA-58D8-33683DEE09BD}"/>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4</a:t>
            </a:fld>
            <a:endParaRPr lang="en-US" dirty="0"/>
          </a:p>
        </p:txBody>
      </p:sp>
      <p:sp>
        <p:nvSpPr>
          <p:cNvPr id="11" name="Subtitle 2">
            <a:extLst>
              <a:ext uri="{FF2B5EF4-FFF2-40B4-BE49-F238E27FC236}">
                <a16:creationId xmlns:a16="http://schemas.microsoft.com/office/drawing/2014/main" id="{7CC9CCD5-8458-65E7-01EF-B13992C63246}"/>
              </a:ext>
              <a:ext uri="{C183D7F6-B498-43B3-948B-1728B52AA6E4}">
                <adec:decorative xmlns:adec="http://schemas.microsoft.com/office/drawing/2017/decorative" val="0"/>
              </a:ext>
            </a:extLst>
          </p:cNvPr>
          <p:cNvSpPr txBox="1">
            <a:spLocks/>
          </p:cNvSpPr>
          <p:nvPr/>
        </p:nvSpPr>
        <p:spPr>
          <a:xfrm>
            <a:off x="7523051" y="1306685"/>
            <a:ext cx="4439595" cy="54147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Geographical distribution is key to understanding regional adoption. The choropleth map instantly visualizes sales concentration, identifying Uttar Pradesh and Maharashtra as the undisputed regional leaders. This provides a clear strategic map for prioritizing infrastructure and marketing efforts.</a:t>
            </a:r>
          </a:p>
          <a:p>
            <a:r>
              <a:rPr lang="en-US" sz="1500" dirty="0"/>
              <a:t>The horizontal bar chart measuring the count of vehicle classes per state adds a layer of market maturity to the volume data. It reveals that leading states also support a wider variety of models, indicating a more advanced and competitive EV ecosystem beyond just high sales numbers.</a:t>
            </a:r>
          </a:p>
          <a:p>
            <a:r>
              <a:rPr lang="en-US" sz="1500" dirty="0"/>
              <a:t>This allows for nuanced strategy, ensuring investments in high-volume states are matched with targeted model launches in diverse markets to capture their sophisticated consumer demand.</a:t>
            </a:r>
          </a:p>
        </p:txBody>
      </p:sp>
      <p:pic>
        <p:nvPicPr>
          <p:cNvPr id="5" name="Picture 4">
            <a:extLst>
              <a:ext uri="{FF2B5EF4-FFF2-40B4-BE49-F238E27FC236}">
                <a16:creationId xmlns:a16="http://schemas.microsoft.com/office/drawing/2014/main" id="{1E136B0F-1874-FECB-3DA0-5AE3AA046A8E}"/>
              </a:ext>
            </a:extLst>
          </p:cNvPr>
          <p:cNvPicPr>
            <a:picLocks noChangeAspect="1"/>
          </p:cNvPicPr>
          <p:nvPr/>
        </p:nvPicPr>
        <p:blipFill>
          <a:blip r:embed="rId2"/>
          <a:stretch>
            <a:fillRect/>
          </a:stretch>
        </p:blipFill>
        <p:spPr>
          <a:xfrm>
            <a:off x="207851" y="1362223"/>
            <a:ext cx="7315200" cy="4133554"/>
          </a:xfrm>
          <a:prstGeom prst="rect">
            <a:avLst/>
          </a:prstGeom>
        </p:spPr>
      </p:pic>
    </p:spTree>
    <p:extLst>
      <p:ext uri="{BB962C8B-B14F-4D97-AF65-F5344CB8AC3E}">
        <p14:creationId xmlns:p14="http://schemas.microsoft.com/office/powerpoint/2010/main" val="82760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95EED-6B06-456A-3B31-5085686BB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C883F-1491-F8D6-8894-AC393853FE13}"/>
              </a:ext>
            </a:extLst>
          </p:cNvPr>
          <p:cNvSpPr>
            <a:spLocks noGrp="1"/>
          </p:cNvSpPr>
          <p:nvPr>
            <p:ph type="title"/>
          </p:nvPr>
        </p:nvSpPr>
        <p:spPr>
          <a:xfrm>
            <a:off x="521328" y="240302"/>
            <a:ext cx="4992231" cy="585788"/>
          </a:xfrm>
        </p:spPr>
        <p:txBody>
          <a:bodyPr>
            <a:normAutofit fontScale="90000"/>
          </a:bodyPr>
          <a:lstStyle/>
          <a:p>
            <a:r>
              <a:rPr lang="en-US" b="1" dirty="0"/>
              <a:t>Vehicle Category Insights</a:t>
            </a:r>
          </a:p>
        </p:txBody>
      </p:sp>
      <p:sp>
        <p:nvSpPr>
          <p:cNvPr id="13" name="Slide Number Placeholder 12">
            <a:extLst>
              <a:ext uri="{FF2B5EF4-FFF2-40B4-BE49-F238E27FC236}">
                <a16:creationId xmlns:a16="http://schemas.microsoft.com/office/drawing/2014/main" id="{FA3257D0-33A4-5BB8-BE8D-EAEA41EC2F7D}"/>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5</a:t>
            </a:fld>
            <a:endParaRPr lang="en-US" dirty="0"/>
          </a:p>
        </p:txBody>
      </p:sp>
      <p:sp>
        <p:nvSpPr>
          <p:cNvPr id="11" name="Subtitle 2">
            <a:extLst>
              <a:ext uri="{FF2B5EF4-FFF2-40B4-BE49-F238E27FC236}">
                <a16:creationId xmlns:a16="http://schemas.microsoft.com/office/drawing/2014/main" id="{6A7F480A-ED85-D1E0-F327-6E411AD7B5EE}"/>
              </a:ext>
              <a:ext uri="{C183D7F6-B498-43B3-948B-1728B52AA6E4}">
                <adec:decorative xmlns:adec="http://schemas.microsoft.com/office/drawing/2017/decorative" val="0"/>
              </a:ext>
            </a:extLst>
          </p:cNvPr>
          <p:cNvSpPr txBox="1">
            <a:spLocks/>
          </p:cNvSpPr>
          <p:nvPr/>
        </p:nvSpPr>
        <p:spPr>
          <a:xfrm>
            <a:off x="7523051" y="1306685"/>
            <a:ext cx="4439595" cy="54147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This page offers a detailed structural analysis of the market. The stacked column chart breaks down total sales by year and category, revealing the evolving market composition. It shows not just overall growth, but how the influence of each segment has shifted over time.</a:t>
            </a:r>
          </a:p>
          <a:p>
            <a:r>
              <a:rPr lang="en-US" sz="1500" dirty="0"/>
              <a:t>The pie chart provides a definitive market share breakdown by specific vehicle class. It quantifies the overwhelming dominance of categories like M-Cycles/Scooters, offering critical insight into the precise vehicle types that are resonating with Indian consumers.</a:t>
            </a:r>
          </a:p>
          <a:p>
            <a:r>
              <a:rPr lang="en-US" sz="1500" dirty="0"/>
              <a:t>The funnel chart effectively visualizes the sales concentration across major vehicle types. Its sequential format powerfully emphasizes the volume disparity, clearly illustrating the steep drop-off from high-volume 2-wheelers to niche segments, streamlining strategic prioritization.</a:t>
            </a:r>
          </a:p>
        </p:txBody>
      </p:sp>
      <p:pic>
        <p:nvPicPr>
          <p:cNvPr id="4" name="Picture 3">
            <a:extLst>
              <a:ext uri="{FF2B5EF4-FFF2-40B4-BE49-F238E27FC236}">
                <a16:creationId xmlns:a16="http://schemas.microsoft.com/office/drawing/2014/main" id="{334BD2C0-E57F-1D4A-E5CF-232A384576C8}"/>
              </a:ext>
            </a:extLst>
          </p:cNvPr>
          <p:cNvPicPr>
            <a:picLocks noChangeAspect="1"/>
          </p:cNvPicPr>
          <p:nvPr/>
        </p:nvPicPr>
        <p:blipFill>
          <a:blip r:embed="rId2"/>
          <a:stretch>
            <a:fillRect/>
          </a:stretch>
        </p:blipFill>
        <p:spPr>
          <a:xfrm>
            <a:off x="207851" y="1359195"/>
            <a:ext cx="7315200" cy="4139609"/>
          </a:xfrm>
          <a:prstGeom prst="rect">
            <a:avLst/>
          </a:prstGeom>
        </p:spPr>
      </p:pic>
    </p:spTree>
    <p:extLst>
      <p:ext uri="{BB962C8B-B14F-4D97-AF65-F5344CB8AC3E}">
        <p14:creationId xmlns:p14="http://schemas.microsoft.com/office/powerpoint/2010/main" val="2556767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752E1-0E8C-3CC8-3BAB-4DF7520F2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9D97C-93D1-3E38-A68B-5E5E1E498510}"/>
              </a:ext>
            </a:extLst>
          </p:cNvPr>
          <p:cNvSpPr>
            <a:spLocks noGrp="1"/>
          </p:cNvSpPr>
          <p:nvPr>
            <p:ph type="title"/>
          </p:nvPr>
        </p:nvSpPr>
        <p:spPr>
          <a:xfrm>
            <a:off x="521328" y="240302"/>
            <a:ext cx="4992231" cy="585788"/>
          </a:xfrm>
        </p:spPr>
        <p:txBody>
          <a:bodyPr>
            <a:normAutofit/>
          </a:bodyPr>
          <a:lstStyle/>
          <a:p>
            <a:r>
              <a:rPr lang="en-US" b="1" dirty="0"/>
              <a:t>Vehicle Class Insights</a:t>
            </a:r>
          </a:p>
        </p:txBody>
      </p:sp>
      <p:sp>
        <p:nvSpPr>
          <p:cNvPr id="13" name="Slide Number Placeholder 12">
            <a:extLst>
              <a:ext uri="{FF2B5EF4-FFF2-40B4-BE49-F238E27FC236}">
                <a16:creationId xmlns:a16="http://schemas.microsoft.com/office/drawing/2014/main" id="{D6A99CBD-5D4B-1781-6AC3-054DE5407599}"/>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6</a:t>
            </a:fld>
            <a:endParaRPr lang="en-US" dirty="0"/>
          </a:p>
        </p:txBody>
      </p:sp>
      <p:sp>
        <p:nvSpPr>
          <p:cNvPr id="11" name="Subtitle 2">
            <a:extLst>
              <a:ext uri="{FF2B5EF4-FFF2-40B4-BE49-F238E27FC236}">
                <a16:creationId xmlns:a16="http://schemas.microsoft.com/office/drawing/2014/main" id="{3AB45D60-79C7-B567-A7DB-118AD4139967}"/>
              </a:ext>
              <a:ext uri="{C183D7F6-B498-43B3-948B-1728B52AA6E4}">
                <adec:decorative xmlns:adec="http://schemas.microsoft.com/office/drawing/2017/decorative" val="0"/>
              </a:ext>
            </a:extLst>
          </p:cNvPr>
          <p:cNvSpPr txBox="1">
            <a:spLocks/>
          </p:cNvSpPr>
          <p:nvPr/>
        </p:nvSpPr>
        <p:spPr>
          <a:xfrm>
            <a:off x="7523051" y="1306685"/>
            <a:ext cx="4439595" cy="54147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The layout directly pairs each vehicle category with its core KPIs, enabling a rapid, side-by-side comparison of growth rates and sales performance to identify the most dynamic segments.</a:t>
            </a:r>
          </a:p>
          <a:p>
            <a:r>
              <a:rPr lang="en-US" sz="1500" dirty="0"/>
              <a:t>A detailed bar chart drills into the "Others" category, exposing specialized markets like commercial and agricultural vehicles. This analysis is crucial for identifying early-stage, high-potential niches that are often overlooked in broader category reviews.</a:t>
            </a:r>
          </a:p>
          <a:p>
            <a:endParaRPr lang="en-US" sz="1500" dirty="0"/>
          </a:p>
        </p:txBody>
      </p:sp>
      <p:pic>
        <p:nvPicPr>
          <p:cNvPr id="5" name="Picture 4">
            <a:extLst>
              <a:ext uri="{FF2B5EF4-FFF2-40B4-BE49-F238E27FC236}">
                <a16:creationId xmlns:a16="http://schemas.microsoft.com/office/drawing/2014/main" id="{CC9EB50D-7F09-4940-9C66-127091DF57AA}"/>
              </a:ext>
            </a:extLst>
          </p:cNvPr>
          <p:cNvPicPr>
            <a:picLocks noChangeAspect="1"/>
          </p:cNvPicPr>
          <p:nvPr/>
        </p:nvPicPr>
        <p:blipFill>
          <a:blip r:embed="rId2"/>
          <a:stretch>
            <a:fillRect/>
          </a:stretch>
        </p:blipFill>
        <p:spPr>
          <a:xfrm>
            <a:off x="207851" y="1375974"/>
            <a:ext cx="7315200" cy="4106051"/>
          </a:xfrm>
          <a:prstGeom prst="rect">
            <a:avLst/>
          </a:prstGeom>
        </p:spPr>
      </p:pic>
    </p:spTree>
    <p:extLst>
      <p:ext uri="{BB962C8B-B14F-4D97-AF65-F5344CB8AC3E}">
        <p14:creationId xmlns:p14="http://schemas.microsoft.com/office/powerpoint/2010/main" val="163377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A25BB-4122-E3FB-5176-85C81AE27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D8E51-3919-8840-C6C9-67DB967282BD}"/>
              </a:ext>
            </a:extLst>
          </p:cNvPr>
          <p:cNvSpPr>
            <a:spLocks noGrp="1"/>
          </p:cNvSpPr>
          <p:nvPr>
            <p:ph type="title"/>
          </p:nvPr>
        </p:nvSpPr>
        <p:spPr>
          <a:xfrm>
            <a:off x="521328" y="240302"/>
            <a:ext cx="4784003" cy="585788"/>
          </a:xfrm>
        </p:spPr>
        <p:txBody>
          <a:bodyPr>
            <a:normAutofit fontScale="90000"/>
          </a:bodyPr>
          <a:lstStyle/>
          <a:p>
            <a:r>
              <a:rPr lang="en-US" b="1" dirty="0"/>
              <a:t>Growth &amp; Trend Analysis</a:t>
            </a:r>
          </a:p>
        </p:txBody>
      </p:sp>
      <p:sp>
        <p:nvSpPr>
          <p:cNvPr id="13" name="Slide Number Placeholder 12">
            <a:extLst>
              <a:ext uri="{FF2B5EF4-FFF2-40B4-BE49-F238E27FC236}">
                <a16:creationId xmlns:a16="http://schemas.microsoft.com/office/drawing/2014/main" id="{D51C949B-5F5A-E6E8-F923-F675BE4801B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7</a:t>
            </a:fld>
            <a:endParaRPr lang="en-US" dirty="0"/>
          </a:p>
        </p:txBody>
      </p:sp>
      <p:sp>
        <p:nvSpPr>
          <p:cNvPr id="11" name="Subtitle 2">
            <a:extLst>
              <a:ext uri="{FF2B5EF4-FFF2-40B4-BE49-F238E27FC236}">
                <a16:creationId xmlns:a16="http://schemas.microsoft.com/office/drawing/2014/main" id="{B17A56A6-0B0D-CB06-4CED-6B69434328CB}"/>
              </a:ext>
              <a:ext uri="{C183D7F6-B498-43B3-948B-1728B52AA6E4}">
                <adec:decorative xmlns:adec="http://schemas.microsoft.com/office/drawing/2017/decorative" val="0"/>
              </a:ext>
            </a:extLst>
          </p:cNvPr>
          <p:cNvSpPr txBox="1">
            <a:spLocks/>
          </p:cNvSpPr>
          <p:nvPr/>
        </p:nvSpPr>
        <p:spPr>
          <a:xfrm>
            <a:off x="7523051" y="1306685"/>
            <a:ext cx="4439595" cy="54147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The monthly sales line chart is indispensable for identifying recurring seasonality, helping to correlate sales peaks with festivals, policy announcements, or fiscal year cycles.</a:t>
            </a:r>
          </a:p>
          <a:p>
            <a:r>
              <a:rPr lang="en-US" sz="1500" dirty="0"/>
              <a:t>The funnel chart applied to annual sales powerfully validates the market's exponential growth journey. Its shape makes the year-on-year expansion visually dramatic and undeniable, effectively communicating the long-term success of the EV transition to stakeholders.</a:t>
            </a:r>
          </a:p>
          <a:p>
            <a:r>
              <a:rPr lang="en-US" sz="1500" dirty="0"/>
              <a:t>By combining monthly and yearly views, we understand both the cyclical rhythms and the powerful underlying growth trend. This equips leadership to plan for short-term fluctuations while maintaining confidence in the long-term strategic direction.</a:t>
            </a:r>
          </a:p>
        </p:txBody>
      </p:sp>
      <p:pic>
        <p:nvPicPr>
          <p:cNvPr id="4" name="Picture 3">
            <a:extLst>
              <a:ext uri="{FF2B5EF4-FFF2-40B4-BE49-F238E27FC236}">
                <a16:creationId xmlns:a16="http://schemas.microsoft.com/office/drawing/2014/main" id="{C8827B02-6CFE-347F-4F70-07D8F9C1C986}"/>
              </a:ext>
            </a:extLst>
          </p:cNvPr>
          <p:cNvPicPr>
            <a:picLocks noChangeAspect="1"/>
          </p:cNvPicPr>
          <p:nvPr/>
        </p:nvPicPr>
        <p:blipFill>
          <a:blip r:embed="rId2"/>
          <a:stretch>
            <a:fillRect/>
          </a:stretch>
        </p:blipFill>
        <p:spPr>
          <a:xfrm>
            <a:off x="207851" y="1380536"/>
            <a:ext cx="7315200" cy="4096928"/>
          </a:xfrm>
          <a:prstGeom prst="rect">
            <a:avLst/>
          </a:prstGeom>
        </p:spPr>
      </p:pic>
    </p:spTree>
    <p:extLst>
      <p:ext uri="{BB962C8B-B14F-4D97-AF65-F5344CB8AC3E}">
        <p14:creationId xmlns:p14="http://schemas.microsoft.com/office/powerpoint/2010/main" val="1797129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2809743" cy="1325563"/>
          </a:xfrm>
        </p:spPr>
        <p:txBody>
          <a:bodyPr/>
          <a:lstStyle/>
          <a:p>
            <a:r>
              <a:rPr lang="en-US" dirty="0"/>
              <a:t>Project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19680" y="584462"/>
            <a:ext cx="5433204" cy="365125"/>
          </a:xfrm>
        </p:spPr>
        <p:txBody>
          <a:bodyPr vert="horz" lIns="91440" tIns="45720" rIns="91440" bIns="45720" rtlCol="0" anchor="t">
            <a:normAutofit lnSpcReduction="10000"/>
          </a:bodyPr>
          <a:lstStyle/>
          <a:p>
            <a:r>
              <a:rPr lang="en-US" b="1" dirty="0"/>
              <a:t>Overview:</a:t>
            </a:r>
            <a:endParaRPr lang="en-US" dirty="0"/>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8</a:t>
            </a:fld>
            <a:endParaRPr lang="en-US" dirty="0"/>
          </a:p>
        </p:txBody>
      </p:sp>
      <p:sp>
        <p:nvSpPr>
          <p:cNvPr id="27" name="Text Placeholder 26">
            <a:extLst>
              <a:ext uri="{FF2B5EF4-FFF2-40B4-BE49-F238E27FC236}">
                <a16:creationId xmlns:a16="http://schemas.microsoft.com/office/drawing/2014/main" id="{CDF1A59C-C08E-1203-FFEF-3FBB012BBA06}"/>
              </a:ext>
            </a:extLst>
          </p:cNvPr>
          <p:cNvSpPr>
            <a:spLocks noGrp="1"/>
          </p:cNvSpPr>
          <p:nvPr>
            <p:ph type="body" sz="quarter" idx="28"/>
          </p:nvPr>
        </p:nvSpPr>
        <p:spPr>
          <a:xfrm>
            <a:off x="5919680" y="949587"/>
            <a:ext cx="5694468" cy="1875094"/>
          </a:xfrm>
        </p:spPr>
        <p:txBody>
          <a:bodyPr>
            <a:normAutofit/>
          </a:bodyPr>
          <a:lstStyle/>
          <a:p>
            <a:r>
              <a:rPr lang="en-US" dirty="0"/>
              <a:t>This Power BI dashboard transforms complex financial data into an interactive analytics platform for strategic decision-making. It provides a multi-dimensional view of sales performance, profitability, and commercial strategy across products, customer segments, and regions..</a:t>
            </a:r>
          </a:p>
        </p:txBody>
      </p:sp>
      <p:sp>
        <p:nvSpPr>
          <p:cNvPr id="28" name="Content Placeholder 2">
            <a:extLst>
              <a:ext uri="{FF2B5EF4-FFF2-40B4-BE49-F238E27FC236}">
                <a16:creationId xmlns:a16="http://schemas.microsoft.com/office/drawing/2014/main" id="{31D469EF-2F0B-F2AD-C9E1-6DDF4969C362}"/>
              </a:ext>
            </a:extLst>
          </p:cNvPr>
          <p:cNvSpPr txBox="1">
            <a:spLocks/>
          </p:cNvSpPr>
          <p:nvPr/>
        </p:nvSpPr>
        <p:spPr>
          <a:xfrm>
            <a:off x="5919680" y="2459556"/>
            <a:ext cx="5433204" cy="36512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Key Insights from the Data:</a:t>
            </a:r>
            <a:endParaRPr lang="en-US" dirty="0"/>
          </a:p>
        </p:txBody>
      </p:sp>
      <p:sp>
        <p:nvSpPr>
          <p:cNvPr id="29" name="Text Placeholder 26">
            <a:extLst>
              <a:ext uri="{FF2B5EF4-FFF2-40B4-BE49-F238E27FC236}">
                <a16:creationId xmlns:a16="http://schemas.microsoft.com/office/drawing/2014/main" id="{889E6A7A-D311-8E49-CBAB-3A2830E4A6F9}"/>
              </a:ext>
            </a:extLst>
          </p:cNvPr>
          <p:cNvSpPr txBox="1">
            <a:spLocks/>
          </p:cNvSpPr>
          <p:nvPr/>
        </p:nvSpPr>
        <p:spPr>
          <a:xfrm>
            <a:off x="5919680" y="2944092"/>
            <a:ext cx="5694468" cy="377738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Portfolio Optimization:</a:t>
            </a:r>
            <a:r>
              <a:rPr lang="en-US" dirty="0"/>
              <a:t> A clear 80/20 rule was identified, where a small subset of products and segments contributed to the majority of overall profit.</a:t>
            </a:r>
          </a:p>
          <a:p>
            <a:r>
              <a:rPr lang="en-US" b="1" dirty="0"/>
              <a:t>Discount Strategy Analysis:</a:t>
            </a:r>
            <a:r>
              <a:rPr lang="en-US" dirty="0"/>
              <a:t> High discount levels were frequently correlated with significantly lower profit margins, revealing a need for more strategic discounting policies.</a:t>
            </a:r>
          </a:p>
          <a:p>
            <a:r>
              <a:rPr lang="en-US" b="1" dirty="0"/>
              <a:t>Segment Performance:</a:t>
            </a:r>
            <a:r>
              <a:rPr lang="en-US" dirty="0"/>
              <a:t> The Government segment generated high sales volume but demonstrated lower relative profitability compared to the Midmarket and Enterprise segments.</a:t>
            </a:r>
          </a:p>
          <a:p>
            <a:r>
              <a:rPr lang="en-US" b="1" dirty="0"/>
              <a:t>Strategic Categorization:</a:t>
            </a:r>
            <a:r>
              <a:rPr lang="en-US" dirty="0"/>
              <a:t> Products were successfully classified into a BCG matrix, visually distinguishing Stars, Cash Cows, and products requiring strategic review.</a:t>
            </a:r>
          </a:p>
        </p:txBody>
      </p:sp>
    </p:spTree>
    <p:extLst>
      <p:ext uri="{BB962C8B-B14F-4D97-AF65-F5344CB8AC3E}">
        <p14:creationId xmlns:p14="http://schemas.microsoft.com/office/powerpoint/2010/main" val="3979386315"/>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161</TotalTime>
  <Words>854</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Tenorite</vt:lpstr>
      <vt:lpstr>Monoline</vt:lpstr>
      <vt:lpstr>Electric Vehicle Sales by State in India</vt:lpstr>
      <vt:lpstr>ABOUT project</vt:lpstr>
      <vt:lpstr>Dashboard Overview</vt:lpstr>
      <vt:lpstr>State-Level Analysis</vt:lpstr>
      <vt:lpstr>Vehicle Category Insights</vt:lpstr>
      <vt:lpstr>Vehicle Class Insights</vt:lpstr>
      <vt:lpstr>Growth &amp; Trend Analysis</vt:lpstr>
      <vt:lpstr>Project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 dharmik</dc:creator>
  <cp:lastModifiedBy>prem dharmik</cp:lastModifiedBy>
  <cp:revision>72</cp:revision>
  <dcterms:created xsi:type="dcterms:W3CDTF">2025-11-01T10:50:54Z</dcterms:created>
  <dcterms:modified xsi:type="dcterms:W3CDTF">2025-11-01T14:28:03Z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